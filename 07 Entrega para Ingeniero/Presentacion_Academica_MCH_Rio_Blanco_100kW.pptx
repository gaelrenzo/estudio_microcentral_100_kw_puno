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09728" cy="438912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914400"/>
            <a:ext cx="98755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>
                <a:solidFill>
                  <a:srgbClr val="82DCDC"/>
                </a:solidFill>
                <a:latin typeface="Aptos"/>
              </a:defRPr>
            </a:pPr>
            <a:r>
              <a:t>UNAP · FIME  |  PROYECTO ACADÉMICO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45920"/>
            <a:ext cx="9875520" cy="1417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MICROCENTRAL</a:t>
            </a:r>
            <a:br/>
            <a:r>
              <a:t>HIDROELÉCTRICA 100 kW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383280"/>
            <a:ext cx="96012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0">
                <a:solidFill>
                  <a:srgbClr val="FFFFFF"/>
                </a:solidFill>
                <a:latin typeface="Aptos"/>
              </a:defRPr>
            </a:pPr>
            <a:r>
              <a:t>Río Blanco · Ollachea · Carabaya · Puno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617720"/>
            <a:ext cx="96012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D2E1EC"/>
                </a:solidFill>
                <a:latin typeface="Aptos"/>
              </a:defRPr>
            </a:pPr>
            <a:r>
              <a:t>Estudio de prefactibilidad y alternativa conceptual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577840"/>
            <a:ext cx="96012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D2E1EC"/>
                </a:solidFill>
                <a:latin typeface="Aptos"/>
              </a:defRPr>
            </a:pPr>
            <a:r>
              <a:t>Expositor(a): ____________________     Curso: ____________________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82DCDC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009191"/>
                </a:solidFill>
                <a:latin typeface="Aptos"/>
              </a:defRPr>
            </a:pPr>
            <a:r>
              <a:t>CAPÍTULO 1 · 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42D4B"/>
                </a:solidFill>
                <a:latin typeface="Aptos"/>
              </a:defRPr>
            </a:pPr>
            <a:r>
              <a:t>Problema, objetivo y alcance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960120" cy="5029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572768"/>
            <a:ext cx="1024128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Evaluar una alternativa hidroeléctrica de 100 kW para la zona de Ollachea, Carabaya.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04872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04872"/>
            <a:ext cx="1024128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Describir el aprovechamiento hidráulico, la conversión electromecánica y la evacuación eléctrica.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36976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36976"/>
            <a:ext cx="1024128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El resultado es prefactibilidad: compara una alternativa y define qué estudios faltan antes de decidir.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605272"/>
            <a:ext cx="10881360" cy="585216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715000"/>
            <a:ext cx="104241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142D4B"/>
                </a:solidFill>
                <a:latin typeface="Aptos"/>
              </a:defRPr>
            </a:pPr>
            <a:r>
              <a:t>La potencia objetivo es una hipótesis de diseño, no una potencia garantizada en servicio.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91440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677581"/>
                </a:solidFill>
                <a:latin typeface="Aptos"/>
              </a:defRPr>
            </a:pPr>
            <a:r>
              <a:t>MCH RÍO BLANCO · Prefactibilidad académica · cifras preliminares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502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24709C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009191"/>
                </a:solidFill>
                <a:latin typeface="Aptos"/>
              </a:defRPr>
            </a:pPr>
            <a:r>
              <a:t>CAPÍTULOS 2–3 · EMPLAZAMIENTO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42D4B"/>
                </a:solidFill>
                <a:latin typeface="Aptos"/>
              </a:defRPr>
            </a:pPr>
            <a:r>
              <a:t>Ubicación y esquema de aprovechamiento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960120" cy="5029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a_01_Ubicacion_Regional_Pu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6192"/>
            <a:ext cx="5181600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572768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572768"/>
            <a:ext cx="484632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Caso de estudio en la microcuenca del río Blanco, distrito de Ollachea, provincia de Carabaya.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04872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404872"/>
            <a:ext cx="484632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La alternativa conecta captación, desarenador, canal, cámara de carga, tubería forzada y casa de máquinas.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36976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3236976"/>
            <a:ext cx="484632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Coordenadas, cotas y trazado del repositorio son referencias provisionales; requieren levantamiento.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605272"/>
            <a:ext cx="10881360" cy="585216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715000"/>
            <a:ext cx="104241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142D4B"/>
                </a:solidFill>
                <a:latin typeface="Aptos"/>
              </a:defRPr>
            </a:pPr>
            <a:r>
              <a:t>Presenta el mapa como ubicación de estudio; no como replanteo topográfico.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91440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677581"/>
                </a:solidFill>
                <a:latin typeface="Aptos"/>
              </a:defRPr>
            </a:pPr>
            <a:r>
              <a:t>MCH RÍO BLANCO · Prefactibilidad académica · cifras preliminares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502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24709C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009191"/>
                </a:solidFill>
                <a:latin typeface="Aptos"/>
              </a:defRPr>
            </a:pPr>
            <a:r>
              <a:t>CAPÍTULO 4 · HIDROLOGÍA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42D4B"/>
                </a:solidFill>
                <a:latin typeface="Aptos"/>
              </a:defRPr>
            </a:pPr>
            <a:r>
              <a:t>Recurso hídrico: qué muestran los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960120" cy="5029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rafico_Curva_Duracion_Caud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2818"/>
            <a:ext cx="5577840" cy="34529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572768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572768"/>
            <a:ext cx="484632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El repositorio procesa una serie diaria 2014–2023 de 3 652 valores.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04872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404872"/>
            <a:ext cx="484632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El cálculo reporta Qmedio = 0,523 m³/s y Q95 = 0,126 m³/s.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36976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3236976"/>
            <a:ext cx="484632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La procedencia y calidad primaria de la serie no están acreditadas; estos resultados son exploratorios.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605272"/>
            <a:ext cx="10881360" cy="585216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715000"/>
            <a:ext cx="104241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142D4B"/>
                </a:solidFill>
                <a:latin typeface="Aptos"/>
              </a:defRPr>
            </a:pPr>
            <a:r>
              <a:t>No llamar “aforo oficial” a la serie; se debe verificar estación, curva de gasto y controles de calidad.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91440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677581"/>
                </a:solidFill>
                <a:latin typeface="Aptos"/>
              </a:defRPr>
            </a:pPr>
            <a:r>
              <a:t>MCH RÍO BLANCO · Prefactibilidad académica · cifras preliminares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502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24709C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009191"/>
                </a:solidFill>
                <a:latin typeface="Aptos"/>
              </a:defRPr>
            </a:pPr>
            <a:r>
              <a:t>CAPÍTULO 4 · BALANCE DE AGUA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42D4B"/>
                </a:solidFill>
                <a:latin typeface="Aptos"/>
              </a:defRPr>
            </a:pPr>
            <a:r>
              <a:t>Caudal de diseño: principal condición abierta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960120" cy="5029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572768"/>
            <a:ext cx="1024128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El escenario adopta Qd = 0,125 m³/s y reserva Qeco = 0,030 m³/s.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04872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04872"/>
            <a:ext cx="1024128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Con Q95 = 0,126 m³/s, el remanente estimado es 0,096 m³/s: menor que Qd.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36976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36976"/>
            <a:ext cx="1024128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Por tanto, Q95 no sustenta operación a caudal nominal; la energía debe recalcularse con datos validados y balance mensual.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605272"/>
            <a:ext cx="10881360" cy="585216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715000"/>
            <a:ext cx="104241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142D4B"/>
                </a:solidFill>
                <a:latin typeface="Aptos"/>
              </a:defRPr>
            </a:pPr>
            <a:r>
              <a:t>Qeco = 30 L/s es un supuesto de trabajo, no una aprobación de la ANA.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91440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677581"/>
                </a:solidFill>
                <a:latin typeface="Aptos"/>
              </a:defRPr>
            </a:pPr>
            <a:r>
              <a:t>MCH RÍO BLANCO · Prefactibilidad académica · cifras preliminares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502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24709C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009191"/>
                </a:solidFill>
                <a:latin typeface="Aptos"/>
              </a:defRPr>
            </a:pPr>
            <a:r>
              <a:t>CAPÍTULOS 5–6 · OBRAS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42D4B"/>
                </a:solidFill>
                <a:latin typeface="Aptos"/>
              </a:defRPr>
            </a:pPr>
            <a:r>
              <a:t>Obras civiles e hidráulicas propuestas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960120" cy="5029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a_03_Esquema_Obras_Hidraulicas_Traz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6192"/>
            <a:ext cx="5316591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572768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572768"/>
            <a:ext cx="484632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Captación tirolesa y desarenador: alternativas conceptuales para derivación y control de sedimentos.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04872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404872"/>
            <a:ext cx="484632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Canal de aducción planteado de 450 m; cámara de carga con aliviadero y volumen de regulación preliminar.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36976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3236976"/>
            <a:ext cx="484632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Geología, estabilidad, cimentaciones y dimensiones deben confirmarse mediante campo y cálculo estructural.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605272"/>
            <a:ext cx="10881360" cy="585216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715000"/>
            <a:ext cx="104241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142D4B"/>
                </a:solidFill>
                <a:latin typeface="Aptos"/>
              </a:defRPr>
            </a:pPr>
            <a:r>
              <a:t>Los planos son conceptuales y no sirven para construir.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91440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677581"/>
                </a:solidFill>
                <a:latin typeface="Aptos"/>
              </a:defRPr>
            </a:pPr>
            <a:r>
              <a:t>MCH RÍO BLANCO · Prefactibilidad académica · cifras preliminares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502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24709C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009191"/>
                </a:solidFill>
                <a:latin typeface="Aptos"/>
              </a:defRPr>
            </a:pPr>
            <a:r>
              <a:t>CAPÍTULO 7 · TRANSITORIOS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42D4B"/>
                </a:solidFill>
                <a:latin typeface="Aptos"/>
              </a:defRPr>
            </a:pPr>
            <a:r>
              <a:t>Tubería forzada y golpe de ariete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960120" cy="5029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a_05_Perfil_Longitudinal_Tuberia_Forz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6217"/>
            <a:ext cx="5577840" cy="3486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572768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572768"/>
            <a:ext cx="484632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Escenario: tubería de acero, diámetro 250 mm y longitud aproximada de 380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04872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404872"/>
            <a:ext cx="484632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Pérdidas modeladas: 8,82 m; salto neto estimado: 106,18 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36976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3236976"/>
            <a:ext cx="484632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Cierre de 4 s: sobrepresión calculada ≈ 49,31 m.c.a.; presión total estimada ≈ 16,1 bar.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605272"/>
            <a:ext cx="10881360" cy="585216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715000"/>
            <a:ext cx="104241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142D4B"/>
                </a:solidFill>
                <a:latin typeface="Aptos"/>
              </a:defRPr>
            </a:pPr>
            <a:r>
              <a:t>La presión y el espesor requieren verificación por especialista y datos reales de material, anclajes y maniobra.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91440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677581"/>
                </a:solidFill>
                <a:latin typeface="Aptos"/>
              </a:defRPr>
            </a:pPr>
            <a:r>
              <a:t>MCH RÍO BLANCO · Prefactibilidad académica · cifras preliminares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502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24709C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009191"/>
                </a:solidFill>
                <a:latin typeface="Aptos"/>
              </a:defRPr>
            </a:pPr>
            <a:r>
              <a:t>CAPÍTULO 8 · ELECTROMECÁNICA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42D4B"/>
                </a:solidFill>
                <a:latin typeface="Aptos"/>
              </a:defRPr>
            </a:pPr>
            <a:r>
              <a:t>Turbina y generador: coordinación pendiente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960120" cy="5029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572768"/>
            <a:ext cx="1024128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Se propone turbina Pelton de dos inyectores, 1 200 rpm, como alternativa compatible con salto alto.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04872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04872"/>
            <a:ext cx="1024128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El cálculo computacional indica unos 104,43 kW; el generador de 125 kVA a cos φ = 0,8 corresponde a 100 kW activos.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36976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36976"/>
            <a:ext cx="1024128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La selección final debe armonizar caudal, salto, eficiencia, velocidad y límites de placa del fabricante.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605272"/>
            <a:ext cx="10881360" cy="585216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715000"/>
            <a:ext cx="104241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142D4B"/>
                </a:solidFill>
                <a:latin typeface="Aptos"/>
              </a:defRPr>
            </a:pPr>
            <a:r>
              <a:t>No presentar 104,43 kW como potencia exportable garantizada.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91440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677581"/>
                </a:solidFill>
                <a:latin typeface="Aptos"/>
              </a:defRPr>
            </a:pPr>
            <a:r>
              <a:t>MCH RÍO BLANCO · Prefactibilidad académica · cifras preliminares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502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24709C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009191"/>
                </a:solidFill>
                <a:latin typeface="Aptos"/>
              </a:defRPr>
            </a:pPr>
            <a:r>
              <a:t>CAPÍTULO 9 · EVACUACIÓN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42D4B"/>
                </a:solidFill>
                <a:latin typeface="Aptos"/>
              </a:defRPr>
            </a:pPr>
            <a:r>
              <a:t>Sistema eléctrico e interconexión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960120" cy="5029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572768"/>
            <a:ext cx="1024128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Alternativa de escenario: generador 400/230 V y transformador 0,4/10 kV, ambos de 125 kVA.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04872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04872"/>
            <a:ext cx="1024128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Nivel de tensión, punto de conexión, protecciones, servidumbres y costos dependen de la distribuidora.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36976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36976"/>
            <a:ext cx="1024128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El unifilar es preliminar; faltan estudios eléctricos y aprobación de conexión.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605272"/>
            <a:ext cx="10881360" cy="585216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715000"/>
            <a:ext cx="104241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142D4B"/>
                </a:solidFill>
                <a:latin typeface="Aptos"/>
              </a:defRPr>
            </a:pPr>
            <a:r>
              <a:t>No hay autorización ni punto de conexión acreditados.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91440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677581"/>
                </a:solidFill>
                <a:latin typeface="Aptos"/>
              </a:defRPr>
            </a:pPr>
            <a:r>
              <a:t>MCH RÍO BLANCO · Prefactibilidad académica · cifras preliminares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502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24709C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009191"/>
                </a:solidFill>
                <a:latin typeface="Aptos"/>
              </a:defRPr>
            </a:pPr>
            <a:r>
              <a:t>CAPÍTULOS 10–12 · GESTIÓN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42D4B"/>
                </a:solidFill>
                <a:latin typeface="Aptos"/>
              </a:defRPr>
            </a:pPr>
            <a:r>
              <a:t>Usos, ambiente y operación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960120" cy="5029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572768"/>
            <a:ext cx="1024128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Usos productivos mencionados: procesamiento agropecuario, cadena de frío y servicios locales.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04872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04872"/>
            <a:ext cx="1024128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No se adjuntan encuestas, acuerdos de compra ni perfiles de carga que acrediten esa demanda.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36976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36976"/>
            <a:ext cx="1024128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Derechos de agua, caudal ecológico, permisos ambientales, operación y gestión de riesgos siguen pendientes.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605272"/>
            <a:ext cx="10881360" cy="585216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715000"/>
            <a:ext cx="104241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142D4B"/>
                </a:solidFill>
                <a:latin typeface="Aptos"/>
              </a:defRPr>
            </a:pPr>
            <a:r>
              <a:t>Distingue objetivos de desarrollo de beneficios medidos o comprometidos.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91440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677581"/>
                </a:solidFill>
                <a:latin typeface="Aptos"/>
              </a:defRPr>
            </a:pPr>
            <a:r>
              <a:t>MCH RÍO BLANCO · Prefactibilidad académica · cifras preliminares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502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24709C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009191"/>
                </a:solidFill>
                <a:latin typeface="Aptos"/>
              </a:defRPr>
            </a:pPr>
            <a:r>
              <a:t>CAPÍTULO 13 · COSTOS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42D4B"/>
                </a:solidFill>
                <a:latin typeface="Aptos"/>
              </a:defRPr>
            </a:pPr>
            <a:r>
              <a:t>Evaluación económica del escenario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960120" cy="5029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572768"/>
            <a:ext cx="1024128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Entradas del modelo: CAPEX USD 245 800; OPEX 3 % del CAPEX; tarifa USD 0,075/kWh.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04872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04872"/>
            <a:ext cx="1024128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Horizonte 25 años, descuento 10 %; resultados modelados: VAN USD 274 742, TIR 23,2 %, LCOE USD 39,90/MWh.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36976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36976"/>
            <a:ext cx="1024128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Los indicadores dependen de energía provisional, precios no cotizados y costos de conexión todavía no definidos.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605272"/>
            <a:ext cx="10881360" cy="585216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715000"/>
            <a:ext cx="104241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142D4B"/>
                </a:solidFill>
                <a:latin typeface="Aptos"/>
              </a:defRPr>
            </a:pPr>
            <a:r>
              <a:t>Los resultados no constituyen recomendación de inversión ni rentabilidad bancaria.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91440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677581"/>
                </a:solidFill>
                <a:latin typeface="Aptos"/>
              </a:defRPr>
            </a:pPr>
            <a:r>
              <a:t>MCH RÍO BLANCO · Prefactibilidad académica · cifras preliminares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502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24709C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009191"/>
                </a:solidFill>
                <a:latin typeface="Aptos"/>
              </a:defRPr>
            </a:pPr>
            <a:r>
              <a:t>CAPÍTULO 14 · RECOMENDACIONES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42D4B"/>
                </a:solidFill>
                <a:latin typeface="Aptos"/>
              </a:defRPr>
            </a:pPr>
            <a:r>
              <a:t>Conclusiones y siguiente etapa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960120" cy="5029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572768"/>
            <a:ext cx="1024128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La alternativa de 100 kW es útil como base para revisar el recurso y dimensionar estudios.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04872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04872"/>
            <a:ext cx="1024128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La disponibilidad hídrica, el generador y los datos de terreno deben resolverse antes de cerrar el diseño.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36976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36976"/>
            <a:ext cx="1024128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Siguiente paso: validar caudales, topografía y geotecnia; luego actualizar equipos, energía, permisos y costos.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605272"/>
            <a:ext cx="10881360" cy="585216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715000"/>
            <a:ext cx="104241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142D4B"/>
                </a:solidFill>
                <a:latin typeface="Aptos"/>
              </a:defRPr>
            </a:pPr>
            <a:r>
              <a:t>La decisión de avanzar debe esperar los resultados de Gate 0 y la revisión profesional.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91440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677581"/>
                </a:solidFill>
                <a:latin typeface="Aptos"/>
              </a:defRPr>
            </a:pPr>
            <a:r>
              <a:t>MCH RÍO BLANCO · Prefactibilidad académica · cifras preliminares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502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24709C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009191"/>
                </a:solidFill>
                <a:latin typeface="Aptos"/>
              </a:defRPr>
            </a:pPr>
            <a: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42D4B"/>
                </a:solidFill>
                <a:latin typeface="Aptos"/>
              </a:defRPr>
            </a:pPr>
            <a:r>
              <a:t>Gracias · preguntas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960120" cy="5029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572768"/>
            <a:ext cx="1024128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¿Qué datos faltan para confirmar la potencia disponible?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04872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04872"/>
            <a:ext cx="1024128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¿Cómo se coordinarán el caudal ecológico, la turbina y el generador?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36976"/>
            <a:ext cx="25603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91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36976"/>
            <a:ext cx="1024128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83340"/>
                </a:solidFill>
                <a:latin typeface="Aptos"/>
              </a:defRPr>
            </a:pPr>
            <a:r>
              <a:t>¿Qué permisos, estudios y costos debe completar la siguiente etapa?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605272"/>
            <a:ext cx="10881360" cy="585216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715000"/>
            <a:ext cx="104241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142D4B"/>
                </a:solidFill>
                <a:latin typeface="Aptos"/>
              </a:defRPr>
            </a:pPr>
            <a:r>
              <a:t>Idea central: proyecto académico de prefactibilidad, con resultados trazables y pendientes explícitos.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91440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677581"/>
                </a:solidFill>
                <a:latin typeface="Aptos"/>
              </a:defRPr>
            </a:pPr>
            <a:r>
              <a:t>MCH RÍO BLANCO · Prefactibilidad académica · cifras preliminares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502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24709C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