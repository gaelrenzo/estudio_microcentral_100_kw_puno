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822960"/>
            <a:ext cx="2560320" cy="2560320"/>
          </a:xfrm>
          <a:prstGeom prst="ellipse">
            <a:avLst/>
          </a:prstGeom>
          <a:solidFill>
            <a:srgbClr val="193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1554480"/>
            <a:ext cx="1645920" cy="1645920"/>
          </a:xfrm>
          <a:prstGeom prst="ellipse">
            <a:avLst/>
          </a:prstGeom>
          <a:solidFill>
            <a:srgbClr val="20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0" y="2057400"/>
            <a:ext cx="640080" cy="640080"/>
          </a:xfrm>
          <a:prstGeom prst="ellipse">
            <a:avLst/>
          </a:prstGeom>
          <a:solidFill>
            <a:srgbClr val="42B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98280" y="3246120"/>
            <a:ext cx="64008" cy="2011680"/>
          </a:xfrm>
          <a:prstGeom prst="rect">
            <a:avLst/>
          </a:prstGeom>
          <a:solidFill>
            <a:srgbClr val="42B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5166360"/>
            <a:ext cx="1874519" cy="64008"/>
          </a:xfrm>
          <a:prstGeom prst="rect">
            <a:avLst/>
          </a:prstGeom>
          <a:solidFill>
            <a:srgbClr val="42B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2B7C8"/>
                </a:solidFill>
                <a:latin typeface="Aptos"/>
              </a:rPr>
              <a:t>DECISIÓN DE INVERSIÓN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713232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Microcentral
hidroeléctrica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17520"/>
            <a:ext cx="6766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D4E3EA"/>
                </a:solidFill>
                <a:latin typeface="Aptos"/>
              </a:rPr>
              <a:t>Río Blanco  /  100 kW  /  Ollachea, Puno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977639"/>
            <a:ext cx="6035040" cy="822960"/>
          </a:xfrm>
          <a:prstGeom prst="roundRect">
            <a:avLst/>
          </a:prstGeom>
          <a:solidFill>
            <a:srgbClr val="19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60520"/>
            <a:ext cx="5577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¿Conviene financiar estudios de campo?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989320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B7C8D3"/>
                </a:solidFill>
                <a:latin typeface="Aptos"/>
              </a:rPr>
              <a:t>Prefactibilidad  •  Paquete para revisión ejecutiva  •  16 octubre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315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B7C8D3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B7C8D3"/>
                </a:solidFill>
                <a:latin typeface="Aptos"/>
              </a:rPr>
              <a:t>RÍO BLANCO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01 / RECOMENDACIÓN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0283F"/>
                </a:solidFill>
                <a:latin typeface="Aptos"/>
              </a:rPr>
              <a:t>La decisión de hoy es comprar información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27482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7482"/>
                </a:solidFill>
                <a:latin typeface="Aptos"/>
              </a:rPr>
              <a:t>RÍO BLANCO  /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349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50292" cy="18288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498347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Recomendación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21992"/>
            <a:ext cx="4965192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63746"/>
                </a:solidFill>
                <a:latin typeface="Aptos"/>
              </a:rPr>
              <a:t>Autorizar solo Gate 0, con tope de USD 25,000 y entregables de parada. No comprometer aún el presupuesto de factibilidad ni construcción.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00200"/>
            <a:ext cx="50292" cy="1828800"/>
          </a:xfrm>
          <a:prstGeom prst="rect">
            <a:avLst/>
          </a:prstGeom>
          <a:solidFill>
            <a:srgbClr val="E9A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93775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Por qué ahora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21992"/>
            <a:ext cx="4919472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63746"/>
                </a:solidFill>
                <a:latin typeface="Aptos"/>
              </a:rPr>
              <a:t>El caso financiero cambia de positivo a negativo bajo estrés combinado. Topografía, caudal turbinable y CAPEX deben verificarse antes de decidir la campaña completa.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14630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5000" b="1">
                <a:solidFill>
                  <a:srgbClr val="10283F"/>
                </a:solidFill>
                <a:latin typeface="Aptos"/>
              </a:rPr>
              <a:t>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1280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627482"/>
                </a:solidFill>
                <a:latin typeface="Aptos"/>
              </a:rPr>
              <a:t>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325112"/>
            <a:ext cx="4114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0283F"/>
                </a:solidFill>
                <a:latin typeface="Aptos"/>
              </a:rPr>
              <a:t>Calificación del expediente disponible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800600"/>
            <a:ext cx="72237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27482"/>
                </a:solidFill>
                <a:latin typeface="Aptos"/>
              </a:rPr>
              <a:t>La nota refleja falta de evidencia primaria; no mide el potencial real del río.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669280"/>
            <a:ext cx="10652760" cy="438912"/>
          </a:xfrm>
          <a:prstGeom prst="roundRect">
            <a:avLst/>
          </a:prstGeom>
          <a:solidFill>
            <a:srgbClr val="D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51576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0283F"/>
                </a:solidFill>
                <a:latin typeface="Aptos"/>
              </a:rPr>
              <a:t>Gate 0 = una decisión escalonada, reversible y limitada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02 / CASO REPRODUCIDO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0283F"/>
                </a:solidFill>
                <a:latin typeface="Aptos"/>
              </a:rPr>
              <a:t>El caso base luce atractivo, pero usa supuestos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27482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7482"/>
                </a:solidFill>
                <a:latin typeface="Aptos"/>
              </a:rPr>
              <a:t>RÍO BLANCO  /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578608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30428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100 kW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27482"/>
                </a:solidFill>
                <a:latin typeface="Aptos"/>
              </a:rPr>
              <a:t>potencia nominal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578608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783080"/>
            <a:ext cx="230428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115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27482"/>
                </a:solidFill>
                <a:latin typeface="Aptos"/>
              </a:rPr>
              <a:t>salto bruto asumido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2578608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230428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125 L/s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04288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27482"/>
                </a:solidFill>
                <a:latin typeface="Aptos"/>
              </a:rPr>
              <a:t>caudal de diseño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00200"/>
            <a:ext cx="2578608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30428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087E8B"/>
                </a:solidFill>
                <a:latin typeface="Aptos"/>
              </a:rPr>
              <a:t>USD 245.8k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304288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27482"/>
                </a:solidFill>
                <a:latin typeface="Aptos"/>
              </a:rPr>
              <a:t>CAPEX supuesto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383280"/>
            <a:ext cx="23591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10283F"/>
                </a:solidFill>
                <a:latin typeface="Aptos"/>
              </a:rPr>
              <a:t>862.9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68496"/>
            <a:ext cx="23957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27482"/>
                </a:solidFill>
                <a:latin typeface="Aptos"/>
              </a:rPr>
              <a:t>MWh/año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83280"/>
            <a:ext cx="23591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10283F"/>
                </a:solidFill>
                <a:latin typeface="Aptos"/>
              </a:rPr>
              <a:t>274.7k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968496"/>
            <a:ext cx="23957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27482"/>
                </a:solidFill>
                <a:latin typeface="Aptos"/>
              </a:rPr>
              <a:t>VAN USD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383280"/>
            <a:ext cx="23591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10283F"/>
                </a:solidFill>
                <a:latin typeface="Aptos"/>
              </a:rPr>
              <a:t>23.2%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68496"/>
            <a:ext cx="23957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27482"/>
                </a:solidFill>
                <a:latin typeface="Aptos"/>
              </a:rPr>
              <a:t>TIR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3383280"/>
            <a:ext cx="23591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10283F"/>
                </a:solidFill>
                <a:latin typeface="Aptos"/>
              </a:rPr>
              <a:t>1.88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968496"/>
            <a:ext cx="23957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27482"/>
                </a:solidFill>
                <a:latin typeface="Aptos"/>
              </a:rPr>
              <a:t>B/C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800600"/>
            <a:ext cx="10625328" cy="868680"/>
          </a:xfrm>
          <a:prstGeom prst="roundRect">
            <a:avLst/>
          </a:prstGeom>
          <a:solidFill>
            <a:srgbClr val="FFF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047488"/>
            <a:ext cx="101498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Estos indicadores son resultados del modelo reproducible, no una previsión ni una oferta bancaria.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870448"/>
            <a:ext cx="10607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27482"/>
                </a:solidFill>
                <a:latin typeface="Aptos"/>
              </a:rPr>
              <a:t>Serie 2014–2023 sin fuente primaria acreditada; eficiencia global, tarifa, CAPEX y caudal ecológico asumidos.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03 / PRUEBA DE ESTRÉS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0283F"/>
                </a:solidFill>
                <a:latin typeface="Aptos"/>
              </a:rPr>
              <a:t>El estrés combinado vuelve negativo el VAN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27482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7482"/>
                </a:solidFill>
                <a:latin typeface="Aptos"/>
              </a:rPr>
              <a:t>RÍO BLANCO  / 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274820"/>
            <a:ext cx="9875520" cy="22860"/>
          </a:xfrm>
          <a:prstGeom prst="rect">
            <a:avLst/>
          </a:prstGeom>
          <a:solidFill>
            <a:srgbClr val="62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19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27482"/>
                </a:solidFill>
                <a:latin typeface="Aptos"/>
              </a:rPr>
              <a:t>300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737360"/>
            <a:ext cx="9875520" cy="7315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917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27482"/>
                </a:solidFill>
                <a:latin typeface="Aptos"/>
              </a:rPr>
              <a:t>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583180"/>
            <a:ext cx="9875520" cy="7315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27482"/>
                </a:solidFill>
                <a:latin typeface="Aptos"/>
              </a:rPr>
              <a:t>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3429000"/>
            <a:ext cx="9875520" cy="7315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8338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27482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2920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27482"/>
                </a:solidFill>
                <a:latin typeface="Aptos"/>
              </a:rPr>
              <a:t>-100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120640"/>
            <a:ext cx="9875520" cy="7315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00784" y="1951352"/>
            <a:ext cx="859536" cy="2323467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1640456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0283F"/>
                </a:solidFill>
                <a:latin typeface="Aptos"/>
              </a:rPr>
              <a:t>274.7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5321808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263746"/>
                </a:solidFill>
                <a:latin typeface="Aptos"/>
              </a:rPr>
              <a:t>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8" y="2483373"/>
            <a:ext cx="859536" cy="179144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2172477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0283F"/>
                </a:solidFill>
                <a:latin typeface="Aptos"/>
              </a:rPr>
              <a:t>211.8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416" y="5321808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263746"/>
                </a:solidFill>
                <a:latin typeface="Aptos"/>
              </a:rPr>
              <a:t>Hb 100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3594780"/>
            <a:ext cx="859536" cy="680039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3283884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0283F"/>
                </a:solidFill>
                <a:latin typeface="Aptos"/>
              </a:rPr>
              <a:t>80.4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321808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263746"/>
                </a:solidFill>
                <a:latin typeface="Aptos"/>
              </a:rPr>
              <a:t>Q diseño
80 L/s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6096" y="2744731"/>
            <a:ext cx="859536" cy="153008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2433835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0283F"/>
                </a:solidFill>
                <a:latin typeface="Aptos"/>
              </a:rPr>
              <a:t>180.9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5321808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263746"/>
                </a:solidFill>
                <a:latin typeface="Aptos"/>
              </a:rPr>
              <a:t>CAPEX
+30%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4274820"/>
            <a:ext cx="859536" cy="547245"/>
          </a:xfrm>
          <a:prstGeom prst="rect">
            <a:avLst/>
          </a:prstGeom>
          <a:solidFill>
            <a:srgbClr val="C9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8" y="4840353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0283F"/>
                </a:solidFill>
                <a:latin typeface="Aptos"/>
              </a:rPr>
              <a:t>-64.7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5321808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263746"/>
                </a:solidFill>
                <a:latin typeface="Aptos"/>
              </a:rPr>
              <a:t>Combinado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943600"/>
            <a:ext cx="9784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27482"/>
                </a:solidFill>
                <a:latin typeface="Aptos"/>
              </a:rPr>
              <a:t>VAN (miles de USD)  •  25 años  •  descuento 10%  •  supuestos del escenario vigente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04 / LECTURA HIDROLÓGICA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0283F"/>
                </a:solidFill>
                <a:latin typeface="Aptos"/>
              </a:rPr>
              <a:t>80 L/s en estiaje no significa 80 L/s todo el año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27482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7482"/>
                </a:solidFill>
                <a:latin typeface="Aptos"/>
              </a:rPr>
              <a:t>RÍO BLANCO  /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57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0292" cy="1965960"/>
          </a:xfrm>
          <a:prstGeom prst="rect">
            <a:avLst/>
          </a:prstGeom>
          <a:solidFill>
            <a:srgbClr val="E9A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4892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Proxy de caudal de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4873752" cy="1197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63746"/>
                </a:solidFill>
                <a:latin typeface="Aptos"/>
              </a:rPr>
              <a:t>Se limita la turbina a 80 L/s manteniendo la serie hipotética. VAN combinado con Hb 100 m y CAPEX +30%: −USD 64.7k.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257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00200"/>
            <a:ext cx="50292" cy="1965960"/>
          </a:xfrm>
          <a:prstGeom prst="rect">
            <a:avLst/>
          </a:prstGeom>
          <a:solidFill>
            <a:srgbClr val="C9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92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Límite severo de estrés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21992"/>
            <a:ext cx="4873752" cy="1197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63746"/>
                </a:solidFill>
                <a:latin typeface="Aptos"/>
              </a:rPr>
              <a:t>Se supone 80 L/s en el río todo el año. Con 30 L/s reservados quedan 50 L/s turbinables; VAN combinado: −USD 192.9k.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069080"/>
            <a:ext cx="10698480" cy="1051560"/>
          </a:xfrm>
          <a:prstGeom prst="roundRect">
            <a:avLst/>
          </a:prstGeom>
          <a:solidFill>
            <a:srgbClr val="E5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25112"/>
            <a:ext cx="10149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Para modelar el estiaje real faltan la duración del caudal, una curva de duración validada y el caudal ecológico aplicable.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394960"/>
            <a:ext cx="101498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27482"/>
                </a:solidFill>
                <a:latin typeface="Aptos"/>
              </a:rPr>
              <a:t>El escenario constante es un límite de estrés, no una predicción hidrológica.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05 / PROCURA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0283F"/>
                </a:solidFill>
                <a:latin typeface="Aptos"/>
              </a:rPr>
              <a:t>Gate 0: señales tempranas; campañas ampliadas opcionales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27482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7482"/>
                </a:solidFill>
                <a:latin typeface="Aptos"/>
              </a:rPr>
              <a:t>RÍO BLANCO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52044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50292" cy="3520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A  •  Topografía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94560"/>
            <a:ext cx="3136392" cy="2752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3746"/>
                </a:solidFill>
                <a:latin typeface="Aptos"/>
              </a:rPr>
              <a:t>Revisión y reconocimiento
Control de campo
Hasta 8 ha para cotizar
Polígono real antes de movilizar
Entregables: puntos, perfiles, secciones, crudos y CRS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52044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72768"/>
            <a:ext cx="50292" cy="3520440"/>
          </a:xfrm>
          <a:prstGeom prst="rect">
            <a:avLst/>
          </a:prstGeom>
          <a:solidFill>
            <a:srgbClr val="E9A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37360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B  •  Hidrología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94560"/>
            <a:ext cx="3136392" cy="2752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3746"/>
                </a:solidFill>
                <a:latin typeface="Aptos"/>
              </a:rPr>
              <a:t>Auditoría de series y fuentes
Reconocimiento de sección
2–4 aforos iniciales
Opción ampliada: 12 meses y 15–20 aforos; crecidas y disponibilidad con incertidumbre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72768"/>
            <a:ext cx="352044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572768"/>
            <a:ext cx="50292" cy="3520440"/>
          </a:xfrm>
          <a:prstGeom prst="rect">
            <a:avLst/>
          </a:prstGeom>
          <a:solidFill>
            <a:srgbClr val="C9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737360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C  •  Geotecnia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194560"/>
            <a:ext cx="3136392" cy="2752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63746"/>
                </a:solidFill>
                <a:latin typeface="Aptos"/>
              </a:rPr>
              <a:t>Revisión y recorrido de sitio
Programa de exploración cotizado
Opción ampliada: 14 calicatas y 3 perforaciones iniciales, ajustadas por el geotecnista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440680"/>
            <a:ext cx="10149840" cy="530352"/>
          </a:xfrm>
          <a:prstGeom prst="roundRect">
            <a:avLst/>
          </a:prstGeom>
          <a:solidFill>
            <a:srgbClr val="D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559552"/>
            <a:ext cx="9692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0283F"/>
                </a:solidFill>
                <a:latin typeface="Aptos"/>
              </a:rPr>
              <a:t>Pedir precio por lote, etapa, unidad, IGV, movilización, plazo, entregables y vigencia.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06 / MATRIZ 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0283F"/>
                </a:solidFill>
                <a:latin typeface="Aptos"/>
              </a:rPr>
              <a:t>Las restricciones todavía no están despejadas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27482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7482"/>
                </a:solidFill>
                <a:latin typeface="Aptos"/>
              </a:rPr>
              <a:t>RÍO BLANCO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0292" cy="129844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3035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Hidráulica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3017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3746"/>
                </a:solidFill>
                <a:latin typeface="Aptos"/>
              </a:rPr>
              <a:t>Hb &lt; 95 m: revaluar diseño y VAN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00200"/>
            <a:ext cx="50292" cy="1298448"/>
          </a:xfrm>
          <a:prstGeom prst="rect">
            <a:avLst/>
          </a:prstGeom>
          <a:solidFill>
            <a:srgbClr val="E9A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764792"/>
            <a:ext cx="3035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Agua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21992"/>
            <a:ext cx="3017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3746"/>
                </a:solidFill>
                <a:latin typeface="Aptos"/>
              </a:rPr>
              <a:t>Aforo &lt; 70 L/s: alerta; validar duración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00200"/>
            <a:ext cx="50292" cy="1298448"/>
          </a:xfrm>
          <a:prstGeom prst="rect">
            <a:avLst/>
          </a:prstGeom>
          <a:solidFill>
            <a:srgbClr val="C9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764792"/>
            <a:ext cx="3035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Predial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221992"/>
            <a:ext cx="3017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3746"/>
                </a:solidFill>
                <a:latin typeface="Aptos"/>
              </a:rPr>
              <a:t>Sin corredor/servidumbre: explorar variante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00400"/>
            <a:ext cx="50292" cy="129844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364992"/>
            <a:ext cx="3035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Geotecnia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822191"/>
            <a:ext cx="3017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3746"/>
                </a:solidFill>
                <a:latin typeface="Aptos"/>
              </a:rPr>
              <a:t>Peligro activo: estimar mitigación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0040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200400"/>
            <a:ext cx="50292" cy="1298448"/>
          </a:xfrm>
          <a:prstGeom prst="rect">
            <a:avLst/>
          </a:prstGeom>
          <a:solidFill>
            <a:srgbClr val="E9A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3364992"/>
            <a:ext cx="3035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Conexión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3822191"/>
            <a:ext cx="3017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3746"/>
                </a:solidFill>
                <a:latin typeface="Aptos"/>
              </a:rPr>
              <a:t>Denegación: costear alternativas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200400"/>
            <a:ext cx="340156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200400"/>
            <a:ext cx="50292" cy="1298448"/>
          </a:xfrm>
          <a:prstGeom prst="rect">
            <a:avLst/>
          </a:prstGeom>
          <a:solidFill>
            <a:srgbClr val="C9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364992"/>
            <a:ext cx="3035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Ambiental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822191"/>
            <a:ext cx="3017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3746"/>
                </a:solidFill>
                <a:latin typeface="Aptos"/>
              </a:rPr>
              <a:t>Clasificación y permisos pendientes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" y="5166360"/>
            <a:ext cx="10744200" cy="640080"/>
          </a:xfrm>
          <a:prstGeom prst="roundRect">
            <a:avLst/>
          </a:prstGeom>
          <a:solidFill>
            <a:srgbClr val="FFF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5358384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0283F"/>
                </a:solidFill>
                <a:latin typeface="Aptos"/>
              </a:rPr>
              <a:t>Los límites 95 m / 70 L/s son disparadores de revisión, no cancelación automática.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925312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27482"/>
                </a:solidFill>
                <a:latin typeface="Aptos"/>
              </a:rPr>
              <a:t>Estado actual: pendientes por falta de polígono verificado, datos de campo y respuestas institucionales.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07 / CAPITAL DE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0283F"/>
                </a:solidFill>
                <a:latin typeface="Aptos"/>
              </a:rPr>
              <a:t>Financiar por etapas, con ofertas antes de avanzar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27482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7482"/>
                </a:solidFill>
                <a:latin typeface="Aptos"/>
              </a:rPr>
              <a:t>RÍO BLANCO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37560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87E8B"/>
                </a:solidFill>
                <a:latin typeface="Aptos"/>
              </a:rPr>
              <a:t>GATE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2971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0283F"/>
                </a:solidFill>
                <a:latin typeface="Aptos"/>
              </a:rPr>
              <a:t>USD 10–25k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27482"/>
                </a:solidFill>
                <a:latin typeface="Aptos"/>
              </a:rPr>
              <a:t>screening + reconocimiento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69748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62748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3375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28800"/>
            <a:ext cx="3337560" cy="109728"/>
          </a:xfrm>
          <a:prstGeom prst="rect">
            <a:avLst/>
          </a:prstGeom>
          <a:solidFill>
            <a:srgbClr val="E9A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9AD45"/>
                </a:solidFill>
                <a:latin typeface="Aptos"/>
              </a:rPr>
              <a:t>GATE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97480"/>
            <a:ext cx="2971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0283F"/>
                </a:solidFill>
                <a:latin typeface="Aptos"/>
              </a:rPr>
              <a:t>USD 30–60k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29000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27482"/>
                </a:solidFill>
                <a:latin typeface="Aptos"/>
              </a:rPr>
              <a:t>factibilidad de sitio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69748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62748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3375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3337560" cy="109728"/>
          </a:xfrm>
          <a:prstGeom prst="rect">
            <a:avLst/>
          </a:prstGeom>
          <a:solidFill>
            <a:srgbClr val="C9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148840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C9584F"/>
                </a:solidFill>
                <a:latin typeface="Aptos"/>
              </a:rPr>
              <a:t>GATE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97480"/>
            <a:ext cx="2971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0283F"/>
                </a:solidFill>
                <a:latin typeface="Aptos"/>
              </a:rPr>
              <a:t>USD 60–110k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429000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27482"/>
                </a:solidFill>
                <a:latin typeface="Aptos"/>
              </a:rPr>
              <a:t>factibilidad cerrada / detalle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45152"/>
            <a:ext cx="10698480" cy="1078992"/>
          </a:xfrm>
          <a:prstGeom prst="roundRect">
            <a:avLst/>
          </a:prstGeom>
          <a:solidFill>
            <a:srgbClr val="E5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892040"/>
            <a:ext cx="10195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0283F"/>
                </a:solidFill>
                <a:latin typeface="Aptos"/>
              </a:rPr>
              <a:t>Rangos ROM para planificación; no son ofertas ni deben sumarse sin revisar solapes.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321808"/>
            <a:ext cx="10149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27482"/>
                </a:solidFill>
                <a:latin typeface="Aptos"/>
              </a:rPr>
              <a:t>La campaña hidrológica anual puede exigir plazo y fondos adicionales a Gate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42B7C8"/>
                </a:solidFill>
                <a:latin typeface="Aptos"/>
              </a:rPr>
              <a:t>08 / SOLICITUD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Aprobar Gate 0 con entregables y criterios de salida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315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B7C8D3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B7C8D3"/>
                </a:solidFill>
                <a:latin typeface="Aptos"/>
              </a:rPr>
              <a:t>RÍO BLANCO  /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2B7C8"/>
                </a:solidFill>
                <a:latin typeface="Aptos"/>
              </a:rPr>
              <a:t>AUTORIZAR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5852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Hasta USD 25,000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43200"/>
            <a:ext cx="53035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D6E3EA"/>
                </a:solidFill>
                <a:latin typeface="Aptos"/>
              </a:rPr>
              <a:t>para obtener ofertas comparables, fijar polígono de trabajo, ejecutar reconocimiento y resolver incertidumbres de mayor impacto.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45920"/>
            <a:ext cx="4754880" cy="1143000"/>
          </a:xfrm>
          <a:prstGeom prst="roundRect">
            <a:avLst/>
          </a:prstGeom>
          <a:solidFill>
            <a:srgbClr val="19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645920"/>
            <a:ext cx="50292" cy="1143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810512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1  Cotizar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267712"/>
            <a:ext cx="4370832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6E3EA"/>
                </a:solidFill>
                <a:latin typeface="Aptos"/>
              </a:rPr>
              <a:t>Tres lotes; base y opciones por separado.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017520"/>
            <a:ext cx="4754880" cy="1143000"/>
          </a:xfrm>
          <a:prstGeom prst="roundRect">
            <a:avLst/>
          </a:prstGeom>
          <a:solidFill>
            <a:srgbClr val="19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3017520"/>
            <a:ext cx="50292" cy="1143000"/>
          </a:xfrm>
          <a:prstGeom prst="rect">
            <a:avLst/>
          </a:prstGeom>
          <a:solidFill>
            <a:srgbClr val="E9A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3182112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2  Verificar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3639312"/>
            <a:ext cx="4370832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6E3EA"/>
                </a:solidFill>
                <a:latin typeface="Aptos"/>
              </a:rPr>
              <a:t>Geometría, agua, acceso, predios y conexión preliminar.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389120"/>
            <a:ext cx="4754880" cy="1143000"/>
          </a:xfrm>
          <a:prstGeom prst="roundRect">
            <a:avLst/>
          </a:prstGeom>
          <a:solidFill>
            <a:srgbClr val="19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4389120"/>
            <a:ext cx="50292" cy="1143000"/>
          </a:xfrm>
          <a:prstGeom prst="rect">
            <a:avLst/>
          </a:prstGeom>
          <a:solidFill>
            <a:srgbClr val="C9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4553712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3  Decidir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5010912"/>
            <a:ext cx="4370832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6E3EA"/>
                </a:solidFill>
                <a:latin typeface="Aptos"/>
              </a:rPr>
              <a:t>Pasar a Gate 1 solo con ruta plausible y costos actualizados.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09 / ACCIÓN INMEDIATA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0283F"/>
                </a:solidFill>
                <a:latin typeface="Aptos"/>
              </a:rPr>
              <a:t>Siguiente paso: cotizar y confirmar la ruta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27482"/>
                </a:solidFill>
                <a:latin typeface="Aptos"/>
              </a:rPr>
              <a:t>PREFactibilidad  •  16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27482"/>
                </a:solidFill>
                <a:latin typeface="Aptos"/>
              </a:rPr>
              <a:t>RÍO BLANCO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486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87E8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8961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0283F"/>
                </a:solidFill>
                <a:latin typeface="Aptos"/>
              </a:rPr>
              <a:t>Enviar el TDR a postores de topografía, hidrología y geotecnia.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5486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87E8B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87752"/>
            <a:ext cx="8961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0283F"/>
                </a:solidFill>
                <a:latin typeface="Aptos"/>
              </a:rPr>
              <a:t>Pedir cotización Gate 0 y opciones ampliadas por separado.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5486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87E8B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547872"/>
            <a:ext cx="8961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0283F"/>
                </a:solidFill>
                <a:latin typeface="Aptos"/>
              </a:rPr>
              <a:t>Aprobar eje/polígono, acceso y responsable de recibir datos crudos.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5486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87E8B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507992"/>
            <a:ext cx="8961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0283F"/>
                </a:solidFill>
                <a:latin typeface="Aptos"/>
              </a:rPr>
              <a:t>Revisar ofertas, completar matriz y ejecutar el primer go/no-go.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04688"/>
            <a:ext cx="10744200" cy="548640"/>
          </a:xfrm>
          <a:prstGeom prst="roundRect">
            <a:avLst/>
          </a:prstGeom>
          <a:solidFill>
            <a:srgbClr val="10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641848"/>
            <a:ext cx="10287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Todavía sin levantamiento real • sin aforo de campo • sin overlay GIS confirmado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